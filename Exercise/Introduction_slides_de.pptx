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  <p:sldMasterId id="214748365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BqEavqiEKLm1HBL+LRegqpsc3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de-DE"/>
              <a:t>- Abbildung mit MIMIC-Datensatz</a:t>
            </a:r>
            <a:endParaRPr/>
          </a:p>
        </p:txBody>
      </p:sp>
      <p:sp>
        <p:nvSpPr>
          <p:cNvPr id="115" name="Google Shape;11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de-DE"/>
              <a:t>- Abbildung mit MIMIC-Datensatz</a:t>
            </a:r>
            <a:endParaRPr/>
          </a:p>
        </p:txBody>
      </p:sp>
      <p:sp>
        <p:nvSpPr>
          <p:cNvPr id="128" name="Google Shape;128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de-DE"/>
              <a:t>- Abbildung mit MIMIC-Datensatz</a:t>
            </a:r>
            <a:endParaRPr/>
          </a:p>
        </p:txBody>
      </p:sp>
      <p:sp>
        <p:nvSpPr>
          <p:cNvPr id="139" name="Google Shape;139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78c195d0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78c195d0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278c195d0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78c195d04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78c195d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Im Boxplot links Hematocrit s1 -&gt; Subset 1: Patienten mit Diagnose Hyperlipidämie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Im Boxplot rechts Hematocrit s2 -&gt; Subset 2: Patienten mit Diagnose Vorhofflimmern</a:t>
            </a:r>
            <a:endParaRPr/>
          </a:p>
        </p:txBody>
      </p:sp>
      <p:sp>
        <p:nvSpPr>
          <p:cNvPr id="166" name="Google Shape;166;g3278c195d04_0_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278c195d0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278c195d0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Da Korrelationskoeffizient -0,5 &lt; 1 =&gt; Je älter die Patienten werden, desto geringer ist ihr Gewicht.</a:t>
            </a:r>
            <a:endParaRPr/>
          </a:p>
        </p:txBody>
      </p:sp>
      <p:sp>
        <p:nvSpPr>
          <p:cNvPr id="175" name="Google Shape;175;g3278c195d04_0_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278c195d04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278c195d0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278c195d04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78c195d04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78c195d0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Vergleich der Überlebenszeitanalyse Kaplan-Meier-Kurven zwischen links Subset Patienten mit Hyperlipidämie und rechts Subset Patienten mit Vorhofflimmern.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Links: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Kreis: Ab einem Jahr von 80 sind 50 % aller Patienten mit Hyperlipidämie bereits verstorben.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Die Kurve fällt erst ab einem Alter von ca. 60 stark ab. Davor ist sie schwach abgefallen.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de-DE"/>
              <a:t>Rechts:</a:t>
            </a:r>
            <a:endParaRPr/>
          </a:p>
          <a:p>
            <a:pPr indent="-317500" lvl="0" marL="457200" rtl="0" algn="l">
              <a:spcBef>
                <a:spcPts val="36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Kreis: Ab einem Jahr von 80 sind 50 % aller Patienten mit Vorhofflimmern bereits verstorben.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-DE"/>
              <a:t>Die Kurve fällt ab einem Alter von ca. 60 stark ab. Davor war sie konstant.</a:t>
            </a:r>
            <a:endParaRPr/>
          </a:p>
        </p:txBody>
      </p:sp>
      <p:sp>
        <p:nvSpPr>
          <p:cNvPr id="192" name="Google Shape;192;g3278c195d04_0_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Volumes/Daten/Uni_Leipzig/1_Corporate_Design/17_351_UniLE_MF_Aktualisierung CD-Handbuch/Grafik/Produktion/Datenvorlagen/_UniLE_MF_Marke/MF_Marke/180504_Medizinische_Fakultaet.jpg" id="13" name="Google Shape;1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8"/>
          <p:cNvSpPr txBox="1"/>
          <p:nvPr>
            <p:ph type="ctrTitle"/>
          </p:nvPr>
        </p:nvSpPr>
        <p:spPr>
          <a:xfrm>
            <a:off x="295687" y="2078847"/>
            <a:ext cx="8092705" cy="1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" type="subTitle"/>
          </p:nvPr>
        </p:nvSpPr>
        <p:spPr>
          <a:xfrm>
            <a:off x="295687" y="1606876"/>
            <a:ext cx="6400800" cy="4719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18"/>
          <p:cNvSpPr/>
          <p:nvPr>
            <p:ph idx="2" type="pic"/>
          </p:nvPr>
        </p:nvSpPr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18"/>
          <p:cNvSpPr/>
          <p:nvPr>
            <p:ph idx="3" type="pic"/>
          </p:nvPr>
        </p:nvSpPr>
        <p:spPr>
          <a:xfrm>
            <a:off x="2453698" y="4444369"/>
            <a:ext cx="2184476" cy="517525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8"/>
          <p:cNvSpPr/>
          <p:nvPr/>
        </p:nvSpPr>
        <p:spPr>
          <a:xfrm rot="348924">
            <a:off x="8471146" y="-38043"/>
            <a:ext cx="956809" cy="5256635"/>
          </a:xfrm>
          <a:custGeom>
            <a:rect b="b" l="l" r="r" t="t"/>
            <a:pathLst>
              <a:path extrusionOk="0" h="5245637" w="781424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cap="flat" cmpd="sng" w="9525">
            <a:solidFill>
              <a:srgbClr val="008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8"/>
          <p:cNvSpPr/>
          <p:nvPr/>
        </p:nvSpPr>
        <p:spPr>
          <a:xfrm flipH="1" rot="8241572">
            <a:off x="6280471" y="3669367"/>
            <a:ext cx="3546762" cy="2138528"/>
          </a:xfrm>
          <a:custGeom>
            <a:rect b="b" l="l" r="r" t="t"/>
            <a:pathLst>
              <a:path extrusionOk="0" h="2138528" w="3546762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411"/>
            </a:srgbClr>
          </a:solidFill>
          <a:ln>
            <a:noFill/>
          </a:ln>
          <a:effectLst>
            <a:outerShdw sx="1000" rotWithShape="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elen Dank!">
  <p:cSld name="Vielen Dank!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93"/>
            <a:ext cx="3429000" cy="144237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3"/>
          <p:cNvSpPr txBox="1"/>
          <p:nvPr>
            <p:ph type="ctrTitle"/>
          </p:nvPr>
        </p:nvSpPr>
        <p:spPr>
          <a:xfrm>
            <a:off x="365495" y="2078847"/>
            <a:ext cx="7984797" cy="562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365495" y="2834640"/>
            <a:ext cx="4672172" cy="18474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pic>
        <p:nvPicPr>
          <p:cNvPr descr="/Volumes/Daten/Uni_Leipzig/1_Corporate_Design/17_351_UniLE_MF_Aktualisierung CD-Handbuch/Grafik/Produktion/Datenvorlagen/_UniLE_MF_Marke/MF_Marke/180504_Medizinische_Fakultaet.jpg" id="24" name="Google Shape;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094" y="19059"/>
            <a:ext cx="3401276" cy="154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3"/>
          <p:cNvSpPr/>
          <p:nvPr/>
        </p:nvSpPr>
        <p:spPr>
          <a:xfrm rot="348924">
            <a:off x="8471146" y="-38043"/>
            <a:ext cx="956809" cy="5256635"/>
          </a:xfrm>
          <a:custGeom>
            <a:rect b="b" l="l" r="r" t="t"/>
            <a:pathLst>
              <a:path extrusionOk="0" h="5245637" w="781424">
                <a:moveTo>
                  <a:pt x="0" y="5245637"/>
                </a:moveTo>
                <a:lnTo>
                  <a:pt x="339503" y="0"/>
                </a:lnTo>
                <a:lnTo>
                  <a:pt x="781424" y="5149745"/>
                </a:lnTo>
                <a:lnTo>
                  <a:pt x="0" y="5245637"/>
                </a:lnTo>
                <a:close/>
              </a:path>
            </a:pathLst>
          </a:custGeom>
          <a:solidFill>
            <a:srgbClr val="008AC9"/>
          </a:solidFill>
          <a:ln cap="flat" cmpd="sng" w="9525">
            <a:solidFill>
              <a:srgbClr val="0087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3"/>
          <p:cNvSpPr/>
          <p:nvPr/>
        </p:nvSpPr>
        <p:spPr>
          <a:xfrm flipH="1" rot="8241572">
            <a:off x="6280471" y="3669367"/>
            <a:ext cx="3546762" cy="2138528"/>
          </a:xfrm>
          <a:custGeom>
            <a:rect b="b" l="l" r="r" t="t"/>
            <a:pathLst>
              <a:path extrusionOk="0" h="2138528" w="3546762">
                <a:moveTo>
                  <a:pt x="0" y="2138528"/>
                </a:moveTo>
                <a:lnTo>
                  <a:pt x="2310704" y="0"/>
                </a:lnTo>
                <a:lnTo>
                  <a:pt x="3546762" y="1345944"/>
                </a:lnTo>
                <a:lnTo>
                  <a:pt x="0" y="2138528"/>
                </a:lnTo>
                <a:close/>
              </a:path>
            </a:pathLst>
          </a:custGeom>
          <a:solidFill>
            <a:srgbClr val="8AC2D1">
              <a:alpha val="49411"/>
            </a:srgbClr>
          </a:solidFill>
          <a:ln>
            <a:noFill/>
          </a:ln>
          <a:effectLst>
            <a:outerShdw sx="1000" rotWithShape="0" sy="10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rechts">
  <p:cSld name="Zwischenfolie rech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3501688" y="-5922"/>
            <a:ext cx="5654316" cy="51527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2" type="body"/>
          </p:nvPr>
        </p:nvSpPr>
        <p:spPr>
          <a:xfrm>
            <a:off x="4429719" y="-4153"/>
            <a:ext cx="4711557" cy="5154092"/>
          </a:xfrm>
          <a:prstGeom prst="rect">
            <a:avLst/>
          </a:prstGeom>
          <a:solidFill>
            <a:srgbClr val="8AC2D1">
              <a:alpha val="4941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3" type="body"/>
          </p:nvPr>
        </p:nvSpPr>
        <p:spPr>
          <a:xfrm>
            <a:off x="511372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4"/>
          <p:cNvSpPr/>
          <p:nvPr>
            <p:ph idx="4" type="pic"/>
          </p:nvPr>
        </p:nvSpPr>
        <p:spPr>
          <a:xfrm>
            <a:off x="-1" y="0"/>
            <a:ext cx="61150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24"/>
          <p:cNvSpPr txBox="1"/>
          <p:nvPr>
            <p:ph type="title"/>
          </p:nvPr>
        </p:nvSpPr>
        <p:spPr>
          <a:xfrm>
            <a:off x="511372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 cap="none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links">
  <p:cSld name="Zwischenfolie link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idx="1" type="body"/>
          </p:nvPr>
        </p:nvSpPr>
        <p:spPr>
          <a:xfrm flipH="1">
            <a:off x="-14439" y="-5922"/>
            <a:ext cx="5654316" cy="5152775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2" type="body"/>
          </p:nvPr>
        </p:nvSpPr>
        <p:spPr>
          <a:xfrm flipH="1">
            <a:off x="-14439" y="-4153"/>
            <a:ext cx="4711557" cy="5154092"/>
          </a:xfrm>
          <a:prstGeom prst="rect">
            <a:avLst/>
          </a:prstGeom>
          <a:solidFill>
            <a:srgbClr val="8AC2D1">
              <a:alpha val="4941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3" type="body"/>
          </p:nvPr>
        </p:nvSpPr>
        <p:spPr>
          <a:xfrm>
            <a:off x="471878" y="1066801"/>
            <a:ext cx="3562911" cy="3509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5"/>
          <p:cNvSpPr/>
          <p:nvPr>
            <p:ph idx="4" type="pic"/>
          </p:nvPr>
        </p:nvSpPr>
        <p:spPr>
          <a:xfrm>
            <a:off x="2711450" y="0"/>
            <a:ext cx="6432551" cy="5149939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5"/>
          <p:cNvSpPr txBox="1"/>
          <p:nvPr>
            <p:ph type="title"/>
          </p:nvPr>
        </p:nvSpPr>
        <p:spPr>
          <a:xfrm>
            <a:off x="471878" y="1447164"/>
            <a:ext cx="3562911" cy="2201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800" cap="none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wischenfolie ohne Bild">
  <p:cSld name="Zwischenfolie ohne Bild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ctrTitle"/>
          </p:nvPr>
        </p:nvSpPr>
        <p:spPr>
          <a:xfrm>
            <a:off x="257588" y="2078847"/>
            <a:ext cx="6400800" cy="1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rgbClr val="262A3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subTitle"/>
          </p:nvPr>
        </p:nvSpPr>
        <p:spPr>
          <a:xfrm>
            <a:off x="257587" y="1740092"/>
            <a:ext cx="6400800" cy="33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262A31"/>
              </a:buClr>
              <a:buSzPts val="1800"/>
              <a:buNone/>
              <a:defRPr sz="1800">
                <a:solidFill>
                  <a:srgbClr val="262A3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42" name="Google Shape;42;p26"/>
          <p:cNvCxnSpPr/>
          <p:nvPr/>
        </p:nvCxnSpPr>
        <p:spPr>
          <a:xfrm>
            <a:off x="457200" y="4713670"/>
            <a:ext cx="5731459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3" name="Google Shape;4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6"/>
          <p:cNvSpPr txBox="1"/>
          <p:nvPr>
            <p:ph idx="2" type="body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3" type="body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41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(formatfüllend)">
  <p:cSld name="Bild (formatfüllend)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/>
          <p:nvPr>
            <p:ph idx="2" type="pic"/>
          </p:nvPr>
        </p:nvSpPr>
        <p:spPr>
          <a:xfrm>
            <a:off x="8468" y="8468"/>
            <a:ext cx="9135532" cy="513503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27"/>
          <p:cNvSpPr txBox="1"/>
          <p:nvPr>
            <p:ph idx="1" type="body"/>
          </p:nvPr>
        </p:nvSpPr>
        <p:spPr>
          <a:xfrm>
            <a:off x="5873903" y="7674"/>
            <a:ext cx="3368168" cy="5148188"/>
          </a:xfrm>
          <a:prstGeom prst="rect">
            <a:avLst/>
          </a:prstGeom>
          <a:solidFill>
            <a:srgbClr val="008AC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6247991" y="1769"/>
            <a:ext cx="4711557" cy="5154092"/>
          </a:xfrm>
          <a:prstGeom prst="rect">
            <a:avLst/>
          </a:prstGeom>
          <a:solidFill>
            <a:srgbClr val="8AC2D1">
              <a:alpha val="4941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400"/>
              <a:buNone/>
              <a:defRPr>
                <a:solidFill>
                  <a:srgbClr val="FF545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ohne Untertitel">
  <p:cSld name="Titel und Inhalt ohne Untertitel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0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elle">
  <p:cSld name="Tabel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457200" y="304797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2" name="Google Shape;62;p29"/>
          <p:cNvSpPr txBox="1"/>
          <p:nvPr>
            <p:ph idx="1" type="body"/>
          </p:nvPr>
        </p:nvSpPr>
        <p:spPr>
          <a:xfrm>
            <a:off x="457200" y="4368811"/>
            <a:ext cx="8229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29"/>
          <p:cNvSpPr/>
          <p:nvPr>
            <p:ph idx="2" type="tbl"/>
          </p:nvPr>
        </p:nvSpPr>
        <p:spPr>
          <a:xfrm>
            <a:off x="457200" y="1597677"/>
            <a:ext cx="8234400" cy="26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29"/>
          <p:cNvSpPr txBox="1"/>
          <p:nvPr>
            <p:ph idx="3" type="body"/>
          </p:nvPr>
        </p:nvSpPr>
        <p:spPr>
          <a:xfrm>
            <a:off x="457200" y="1141828"/>
            <a:ext cx="82296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29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Diagramm">
  <p:cSld name="1 Diagramm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0"/>
          <p:cNvSpPr txBox="1"/>
          <p:nvPr>
            <p:ph type="title"/>
          </p:nvPr>
        </p:nvSpPr>
        <p:spPr>
          <a:xfrm>
            <a:off x="457200" y="304797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57200" y="4368811"/>
            <a:ext cx="82296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30"/>
          <p:cNvSpPr/>
          <p:nvPr>
            <p:ph idx="2" type="chart"/>
          </p:nvPr>
        </p:nvSpPr>
        <p:spPr>
          <a:xfrm>
            <a:off x="457200" y="1229028"/>
            <a:ext cx="8229600" cy="30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70" name="Google Shape;70;p30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Diagramme">
  <p:cSld name="2 Diagramm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304797"/>
            <a:ext cx="82296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>
            <a:off x="457200" y="4368811"/>
            <a:ext cx="396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31"/>
          <p:cNvSpPr/>
          <p:nvPr>
            <p:ph idx="2" type="chart"/>
          </p:nvPr>
        </p:nvSpPr>
        <p:spPr>
          <a:xfrm>
            <a:off x="457200" y="1181092"/>
            <a:ext cx="396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31"/>
          <p:cNvSpPr txBox="1"/>
          <p:nvPr>
            <p:ph idx="3" type="body"/>
          </p:nvPr>
        </p:nvSpPr>
        <p:spPr>
          <a:xfrm>
            <a:off x="4714875" y="4368811"/>
            <a:ext cx="3962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31"/>
          <p:cNvSpPr/>
          <p:nvPr>
            <p:ph idx="4" type="chart"/>
          </p:nvPr>
        </p:nvSpPr>
        <p:spPr>
          <a:xfrm>
            <a:off x="4714875" y="1181092"/>
            <a:ext cx="396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31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 mit Text links">
  <p:cSld name="Bild mit Text link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 txBox="1"/>
          <p:nvPr>
            <p:ph type="title"/>
          </p:nvPr>
        </p:nvSpPr>
        <p:spPr>
          <a:xfrm>
            <a:off x="457200" y="372533"/>
            <a:ext cx="26925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1" name="Google Shape;81;p32"/>
          <p:cNvSpPr txBox="1"/>
          <p:nvPr>
            <p:ph idx="1" type="body"/>
          </p:nvPr>
        </p:nvSpPr>
        <p:spPr>
          <a:xfrm>
            <a:off x="457200" y="1503680"/>
            <a:ext cx="2692500" cy="3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D8413E"/>
              </a:buClr>
              <a:buSzPts val="1600"/>
              <a:buFont typeface="Noto Sans Symbols"/>
              <a:buChar char="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D8413E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32"/>
          <p:cNvSpPr/>
          <p:nvPr>
            <p:ph idx="2" type="pic"/>
          </p:nvPr>
        </p:nvSpPr>
        <p:spPr>
          <a:xfrm>
            <a:off x="3352800" y="762000"/>
            <a:ext cx="5791200" cy="34893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32"/>
          <p:cNvSpPr txBox="1"/>
          <p:nvPr>
            <p:ph idx="3" type="body"/>
          </p:nvPr>
        </p:nvSpPr>
        <p:spPr>
          <a:xfrm>
            <a:off x="3352800" y="4368811"/>
            <a:ext cx="5334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Noto Sans Symbols"/>
              <a:buNone/>
              <a:defRPr b="0" i="0" sz="10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D8413E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063625"/>
            <a:ext cx="822960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262A3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9"/>
          <p:cNvCxnSpPr/>
          <p:nvPr/>
        </p:nvCxnSpPr>
        <p:spPr>
          <a:xfrm>
            <a:off x="0" y="155575"/>
            <a:ext cx="457200" cy="0"/>
          </a:xfrm>
          <a:prstGeom prst="straightConnector1">
            <a:avLst/>
          </a:prstGeom>
          <a:noFill/>
          <a:ln cap="flat" cmpd="sng" w="9525">
            <a:solidFill>
              <a:srgbClr val="262A3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" name="Google Shape;52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7200" y="4769366"/>
            <a:ext cx="547323" cy="3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" name="Google Shape;53;p19"/>
          <p:cNvCxnSpPr/>
          <p:nvPr/>
        </p:nvCxnSpPr>
        <p:spPr>
          <a:xfrm>
            <a:off x="457200" y="4713670"/>
            <a:ext cx="8229600" cy="0"/>
          </a:xfrm>
          <a:prstGeom prst="straightConnector1">
            <a:avLst/>
          </a:prstGeom>
          <a:noFill/>
          <a:ln cap="flat" cmpd="sng" w="9525">
            <a:solidFill>
              <a:srgbClr val="79B2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19"/>
          <p:cNvSpPr txBox="1"/>
          <p:nvPr/>
        </p:nvSpPr>
        <p:spPr>
          <a:xfrm>
            <a:off x="1154545" y="4805187"/>
            <a:ext cx="678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de-DE" sz="9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9"/>
          <p:cNvSpPr txBox="1"/>
          <p:nvPr/>
        </p:nvSpPr>
        <p:spPr>
          <a:xfrm>
            <a:off x="457200" y="22671"/>
            <a:ext cx="7002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de-D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Analysen medizinischer Datensätze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imic.mit.edu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295275" y="2079625"/>
            <a:ext cx="809307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Analysen medizinischer Datensätze mit tranSMART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295274" y="1606550"/>
            <a:ext cx="8445313" cy="473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de-DE"/>
              <a:t>MI-Lab Übung 5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4294967295" type="body"/>
          </p:nvPr>
        </p:nvSpPr>
        <p:spPr>
          <a:xfrm>
            <a:off x="295275" y="3600450"/>
            <a:ext cx="37449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Leipzig, </a:t>
            </a:r>
            <a:r>
              <a:rPr lang="de-DE" sz="1600">
                <a:latin typeface="Arial"/>
                <a:ea typeface="Arial"/>
                <a:cs typeface="Arial"/>
                <a:sym typeface="Arial"/>
              </a:rPr>
              <a:t>Datum</a:t>
            </a:r>
            <a:endParaRPr/>
          </a:p>
        </p:txBody>
      </p:sp>
      <p:pic>
        <p:nvPicPr>
          <p:cNvPr descr="Ein Bild, das Text, Schrift, Logo, Grafiken enthält.&#10;&#10;Automatisch generierte Beschreibung" id="92" name="Google Shape;92;p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943" l="0" r="0" t="4943"/>
          <a:stretch/>
        </p:blipFill>
        <p:spPr>
          <a:xfrm>
            <a:off x="295687" y="4439286"/>
            <a:ext cx="2098597" cy="5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ZIEL DER ÜBUNG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b="0" i="0" lang="de-DE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Praktische Erfahrung mit Inhalten und Werkzeugen für die </a:t>
            </a:r>
            <a:r>
              <a:rPr lang="de-DE" sz="1600"/>
              <a:t>Durchführung</a:t>
            </a:r>
            <a:r>
              <a:rPr b="0" i="0" lang="de-DE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einzelner Analysen </a:t>
            </a:r>
            <a:endParaRPr/>
          </a:p>
          <a:p>
            <a:pPr indent="-1555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b="0" i="0" lang="de-DE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Aufeinander aufbauende Abfragen mit steigendem Schwierigkeitsgrad auf einen medizinischen Datensatz </a:t>
            </a:r>
            <a:endParaRPr/>
          </a:p>
          <a:p>
            <a:pPr indent="-1555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98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b="0" i="0" lang="de-DE" sz="16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Analysen anhand natürlichsprachlicher Fragestellungen formulieren </a:t>
            </a:r>
            <a:endParaRPr/>
          </a:p>
          <a:p>
            <a:pPr indent="-155575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800"/>
              <a:buNone/>
            </a:pPr>
            <a:r>
              <a:t/>
            </a:r>
            <a:endParaRPr b="0" i="0" sz="1600" u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Szenario: MIMIC (Medical Information Mart for Intensive Care) 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Anonymisierte elektronische Krankenakten von Patienten, die in das Beth Israel Deaconess Medical Center aufgenommen wurden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Öffentlich zugängliche Demo von MIMIC-IV mit 100 Patienten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Online Dokumentation: </a:t>
            </a:r>
            <a:r>
              <a:rPr lang="de-DE" sz="1600" u="sng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https://mimic.mit.edu</a:t>
            </a:r>
            <a:endParaRPr sz="1600">
              <a:solidFill>
                <a:srgbClr val="0070C0"/>
              </a:solidFill>
            </a:endParaRPr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In der Übung wird eine komprimierte Version des Datensatzes verwendet </a:t>
            </a:r>
            <a:endParaRPr sz="1600"/>
          </a:p>
        </p:txBody>
      </p:sp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3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TranSMART </a:t>
            </a:r>
            <a:endParaRPr/>
          </a:p>
        </p:txBody>
      </p:sp>
      <p:sp>
        <p:nvSpPr>
          <p:cNvPr id="111" name="Google Shape;111;p33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Open source Data Warehouse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Speicherung von großen Mengen klinischer Daten aus klinischen Studien sowie Daten aus der Grundlagenforschung 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D8413E"/>
              </a:buClr>
              <a:buSzPts val="1800"/>
              <a:buFont typeface="Noto Sans Symbols"/>
              <a:buChar char="−"/>
            </a:pPr>
            <a:r>
              <a:rPr lang="de-DE" sz="1600"/>
              <a:t>Gemeinsame Abfrage für die translationale Forschung </a:t>
            </a:r>
            <a:endParaRPr/>
          </a:p>
        </p:txBody>
      </p:sp>
      <p:sp>
        <p:nvSpPr>
          <p:cNvPr id="112" name="Google Shape;112;p33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5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Links: Navigationsbaum für klinische Konzepte </a:t>
            </a:r>
            <a:endParaRPr/>
          </a:p>
        </p:txBody>
      </p:sp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5"/>
          <p:cNvSpPr txBox="1"/>
          <p:nvPr/>
        </p:nvSpPr>
        <p:spPr>
          <a:xfrm>
            <a:off x="1039497" y="1886972"/>
            <a:ext cx="77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Ordner</a:t>
            </a:r>
            <a:endParaRPr/>
          </a:p>
        </p:txBody>
      </p:sp>
      <p:cxnSp>
        <p:nvCxnSpPr>
          <p:cNvPr id="120" name="Google Shape;120;p35"/>
          <p:cNvCxnSpPr/>
          <p:nvPr/>
        </p:nvCxnSpPr>
        <p:spPr>
          <a:xfrm>
            <a:off x="1718404" y="2040861"/>
            <a:ext cx="264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" name="Google Shape;121;p35"/>
          <p:cNvCxnSpPr/>
          <p:nvPr/>
        </p:nvCxnSpPr>
        <p:spPr>
          <a:xfrm>
            <a:off x="1744788" y="3821871"/>
            <a:ext cx="264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" name="Google Shape;122;p35"/>
          <p:cNvCxnSpPr/>
          <p:nvPr/>
        </p:nvCxnSpPr>
        <p:spPr>
          <a:xfrm>
            <a:off x="1718402" y="2568211"/>
            <a:ext cx="2646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35"/>
          <p:cNvSpPr txBox="1"/>
          <p:nvPr/>
        </p:nvSpPr>
        <p:spPr>
          <a:xfrm>
            <a:off x="907199" y="3667982"/>
            <a:ext cx="94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Metrisch</a:t>
            </a:r>
            <a:endParaRPr/>
          </a:p>
        </p:txBody>
      </p:sp>
      <p:sp>
        <p:nvSpPr>
          <p:cNvPr id="124" name="Google Shape;124;p35"/>
          <p:cNvSpPr txBox="1"/>
          <p:nvPr/>
        </p:nvSpPr>
        <p:spPr>
          <a:xfrm>
            <a:off x="774822" y="2417862"/>
            <a:ext cx="99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Kategorial</a:t>
            </a:r>
            <a:endParaRPr/>
          </a:p>
        </p:txBody>
      </p:sp>
      <p:pic>
        <p:nvPicPr>
          <p:cNvPr id="125" name="Google Shape;12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825" y="1011575"/>
            <a:ext cx="5019124" cy="36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875" y="1063625"/>
            <a:ext cx="4902599" cy="368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36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Auswahl der gesamten Studie</a:t>
            </a:r>
            <a:endParaRPr/>
          </a:p>
        </p:txBody>
      </p:sp>
      <p:sp>
        <p:nvSpPr>
          <p:cNvPr id="132" name="Google Shape;132;p36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6"/>
          <p:cNvSpPr txBox="1"/>
          <p:nvPr/>
        </p:nvSpPr>
        <p:spPr>
          <a:xfrm>
            <a:off x="4119566" y="2847175"/>
            <a:ext cx="4572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Die gewählte Kohorte umfasst alle Probanden mit der Diagn</a:t>
            </a:r>
            <a:r>
              <a:rPr lang="de-DE"/>
              <a:t>ose Hyperlipidämie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−"/>
            </a:pPr>
            <a: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Weitere Konzepte können in das gleiche Fenster (ODER-Verknüpfung) in das darunter (UND-Verknüpfung) oder das daneben (2. Kohorte für Vergleiche) geschoben werden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de-DE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6"/>
          <p:cNvSpPr/>
          <p:nvPr/>
        </p:nvSpPr>
        <p:spPr>
          <a:xfrm>
            <a:off x="3665441" y="1483805"/>
            <a:ext cx="1640100" cy="5349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>
            <a:off x="2134305" y="2479339"/>
            <a:ext cx="1323000" cy="1848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36"/>
          <p:cNvCxnSpPr/>
          <p:nvPr/>
        </p:nvCxnSpPr>
        <p:spPr>
          <a:xfrm flipH="1" rot="10800000">
            <a:off x="2576768" y="1938901"/>
            <a:ext cx="1002000" cy="418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424" y="1001779"/>
            <a:ext cx="6345400" cy="368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7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Gewünschte Analysefunktion auswählen </a:t>
            </a:r>
            <a:endParaRPr/>
          </a:p>
        </p:txBody>
      </p:sp>
      <p:sp>
        <p:nvSpPr>
          <p:cNvPr id="143" name="Google Shape;143;p37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/>
          <p:nvPr/>
        </p:nvSpPr>
        <p:spPr>
          <a:xfrm>
            <a:off x="3638145" y="1063624"/>
            <a:ext cx="642000" cy="2301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7"/>
          <p:cNvSpPr/>
          <p:nvPr/>
        </p:nvSpPr>
        <p:spPr>
          <a:xfrm>
            <a:off x="2557551" y="2741182"/>
            <a:ext cx="963000" cy="126600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p37"/>
          <p:cNvCxnSpPr/>
          <p:nvPr/>
        </p:nvCxnSpPr>
        <p:spPr>
          <a:xfrm flipH="1">
            <a:off x="3244557" y="1293779"/>
            <a:ext cx="714600" cy="1370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Aufgaben </a:t>
            </a:r>
            <a:endParaRPr/>
          </a:p>
        </p:txBody>
      </p:sp>
      <p:sp>
        <p:nvSpPr>
          <p:cNvPr id="152" name="Google Shape;152;p38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 sz="1000">
                <a:solidFill>
                  <a:srgbClr val="D8413E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D8413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8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AutoNum type="arabicPeriod"/>
            </a:pPr>
            <a:r>
              <a:rPr b="1" lang="de-DE"/>
              <a:t>Überblick der Studie</a:t>
            </a:r>
            <a:endParaRPr b="1"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de-DE"/>
              <a:t>Vergleich von Subsets</a:t>
            </a:r>
            <a:endParaRPr b="1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DE"/>
              <a:t>Patienten mit Diagnosen Hyperlipidämie und Vorhofflimmern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de-DE"/>
              <a:t>Boxplot</a:t>
            </a:r>
            <a:endParaRPr b="1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DE"/>
              <a:t>Laborwert Hämatokrit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de-DE"/>
              <a:t>Korrelationsanalyse</a:t>
            </a:r>
            <a:endParaRPr b="1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DE"/>
              <a:t>Korrelation zwischen Alter und Gewicht</a:t>
            </a:r>
            <a:endParaRPr/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de-DE"/>
              <a:t>Überlebenszeitanalyse</a:t>
            </a:r>
            <a:endParaRPr b="1"/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de-DE"/>
              <a:t>Vergleich von zwei Kurven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78c195d04_0_0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 2: Vergleich von Subsets</a:t>
            </a:r>
            <a:endParaRPr/>
          </a:p>
        </p:txBody>
      </p:sp>
      <p:sp>
        <p:nvSpPr>
          <p:cNvPr id="160" name="Google Shape;160;g3278c195d04_0_0"/>
          <p:cNvSpPr txBox="1"/>
          <p:nvPr>
            <p:ph idx="1" type="body"/>
          </p:nvPr>
        </p:nvSpPr>
        <p:spPr>
          <a:xfrm>
            <a:off x="457200" y="1223500"/>
            <a:ext cx="4900800" cy="33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Subset 1: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de-DE">
                <a:solidFill>
                  <a:srgbClr val="FF5451"/>
                </a:solidFill>
              </a:rPr>
              <a:t>34 </a:t>
            </a:r>
            <a:r>
              <a:rPr lang="de-DE"/>
              <a:t>Patienten mit Diagnose Hyperlipidämie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Subset 2: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de-DE">
                <a:solidFill>
                  <a:srgbClr val="FF5451"/>
                </a:solidFill>
              </a:rPr>
              <a:t>18 </a:t>
            </a:r>
            <a:r>
              <a:rPr lang="de-DE"/>
              <a:t>Patienten mit Diagnose Vorhofflimmern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de-DE">
                <a:solidFill>
                  <a:srgbClr val="FF5451"/>
                </a:solidFill>
              </a:rPr>
              <a:t>11 </a:t>
            </a:r>
            <a:r>
              <a:rPr lang="de-DE"/>
              <a:t>Patienten mit beiden Diagnosen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➔"/>
            </a:pPr>
            <a:r>
              <a:rPr lang="de-DE"/>
              <a:t>Das durchschn. Alter beider Subsets ist fast gleich</a:t>
            </a:r>
            <a:endParaRPr/>
          </a:p>
        </p:txBody>
      </p:sp>
      <p:sp>
        <p:nvSpPr>
          <p:cNvPr id="161" name="Google Shape;161;g3278c195d04_0_0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62" name="Google Shape;162;g3278c195d0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8150" y="1679163"/>
            <a:ext cx="3455025" cy="246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278c195d04_0_9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 3: Boxplot</a:t>
            </a:r>
            <a:endParaRPr/>
          </a:p>
        </p:txBody>
      </p:sp>
      <p:sp>
        <p:nvSpPr>
          <p:cNvPr id="169" name="Google Shape;169;g3278c195d04_0_9"/>
          <p:cNvSpPr txBox="1"/>
          <p:nvPr>
            <p:ph idx="1" type="body"/>
          </p:nvPr>
        </p:nvSpPr>
        <p:spPr>
          <a:xfrm>
            <a:off x="457200" y="1223500"/>
            <a:ext cx="4548300" cy="33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Laborwert: </a:t>
            </a:r>
            <a:r>
              <a:rPr b="1" lang="de-DE"/>
              <a:t>Hematocrit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Subset 1: Pat mit Hyperlipidämie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Subset 2: Pat mit Vorhofflimmern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➔"/>
            </a:pPr>
            <a:r>
              <a:rPr lang="de-DE"/>
              <a:t>Patienten mit </a:t>
            </a:r>
            <a:r>
              <a:rPr b="1" lang="de-DE"/>
              <a:t>Vorhofflimmern </a:t>
            </a:r>
            <a:r>
              <a:rPr lang="de-DE"/>
              <a:t>haben durchschn. einen </a:t>
            </a:r>
            <a:r>
              <a:rPr b="1" lang="de-DE"/>
              <a:t>höheren </a:t>
            </a:r>
            <a:r>
              <a:rPr lang="de-DE"/>
              <a:t>Hämatokritwert </a:t>
            </a:r>
            <a:endParaRPr/>
          </a:p>
        </p:txBody>
      </p:sp>
      <p:sp>
        <p:nvSpPr>
          <p:cNvPr id="170" name="Google Shape;170;g3278c195d04_0_9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71" name="Google Shape;171;g3278c195d04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2775" y="688393"/>
            <a:ext cx="4024275" cy="3766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78c195d04_0_18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 4: Korrelationsanalyse </a:t>
            </a:r>
            <a:endParaRPr/>
          </a:p>
        </p:txBody>
      </p:sp>
      <p:sp>
        <p:nvSpPr>
          <p:cNvPr id="178" name="Google Shape;178;g3278c195d04_0_18"/>
          <p:cNvSpPr txBox="1"/>
          <p:nvPr>
            <p:ph idx="1" type="body"/>
          </p:nvPr>
        </p:nvSpPr>
        <p:spPr>
          <a:xfrm>
            <a:off x="457200" y="1223500"/>
            <a:ext cx="4629900" cy="33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Subset: Patienten mit Vorhofflimmern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Korrelation: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-DE"/>
              <a:t>Alter und Gewicht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➔"/>
            </a:pPr>
            <a:r>
              <a:rPr lang="de-DE"/>
              <a:t>Korrelationskoeffizient = </a:t>
            </a:r>
            <a:r>
              <a:rPr b="1" lang="de-DE">
                <a:solidFill>
                  <a:srgbClr val="FF5451"/>
                </a:solidFill>
              </a:rPr>
              <a:t>-0,5 </a:t>
            </a:r>
            <a:endParaRPr b="1">
              <a:solidFill>
                <a:srgbClr val="FF545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de-DE"/>
              <a:t>Je </a:t>
            </a:r>
            <a:r>
              <a:rPr b="1" lang="de-DE"/>
              <a:t>älter </a:t>
            </a:r>
            <a:r>
              <a:rPr lang="de-DE"/>
              <a:t>die Patienten sind, desto </a:t>
            </a:r>
            <a:r>
              <a:rPr b="1" lang="de-DE"/>
              <a:t>weniger </a:t>
            </a:r>
            <a:r>
              <a:rPr lang="de-DE"/>
              <a:t>wiegen sie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278c195d04_0_18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80" name="Google Shape;180;g3278c195d04_0_18"/>
          <p:cNvPicPr preferRelativeResize="0"/>
          <p:nvPr/>
        </p:nvPicPr>
        <p:blipFill rotWithShape="1">
          <a:blip r:embed="rId3">
            <a:alphaModFix/>
          </a:blip>
          <a:srcRect b="2931" l="2467" r="0" t="0"/>
          <a:stretch/>
        </p:blipFill>
        <p:spPr>
          <a:xfrm>
            <a:off x="5087100" y="1198700"/>
            <a:ext cx="3604500" cy="27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278c195d04_0_27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 5: Überlebenszeitanalyse</a:t>
            </a:r>
            <a:endParaRPr/>
          </a:p>
        </p:txBody>
      </p:sp>
      <p:sp>
        <p:nvSpPr>
          <p:cNvPr id="187" name="Google Shape;187;g3278c195d04_0_27"/>
          <p:cNvSpPr txBox="1"/>
          <p:nvPr>
            <p:ph idx="1" type="body"/>
          </p:nvPr>
        </p:nvSpPr>
        <p:spPr>
          <a:xfrm>
            <a:off x="457200" y="1223492"/>
            <a:ext cx="8234400" cy="33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Vergleich Überlebenszeit zwischen: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-DE"/>
              <a:t>Patienten mit Hyperlipidämie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-DE"/>
              <a:t>Patienten mit Vorhofflimmern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Kaplan-Meier-Kurve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-"/>
            </a:pPr>
            <a:r>
              <a:rPr lang="de-DE"/>
              <a:t>Variablen: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-DE"/>
              <a:t>Time: Age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de-DE"/>
              <a:t>Censoring Variable: Alive</a:t>
            </a:r>
            <a:endParaRPr/>
          </a:p>
        </p:txBody>
      </p:sp>
      <p:sp>
        <p:nvSpPr>
          <p:cNvPr id="188" name="Google Shape;188;g3278c195d04_0_27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278c195d04_0_34"/>
          <p:cNvSpPr txBox="1"/>
          <p:nvPr>
            <p:ph type="title"/>
          </p:nvPr>
        </p:nvSpPr>
        <p:spPr>
          <a:xfrm>
            <a:off x="457200" y="304799"/>
            <a:ext cx="8234400" cy="7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Lösung 5: Überlebenszeitanalyse</a:t>
            </a:r>
            <a:endParaRPr/>
          </a:p>
        </p:txBody>
      </p:sp>
      <p:sp>
        <p:nvSpPr>
          <p:cNvPr id="195" name="Google Shape;195;g3278c195d04_0_34"/>
          <p:cNvSpPr txBox="1"/>
          <p:nvPr>
            <p:ph idx="12" type="sldNum"/>
          </p:nvPr>
        </p:nvSpPr>
        <p:spPr>
          <a:xfrm>
            <a:off x="7948613" y="4879075"/>
            <a:ext cx="743100" cy="2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D8413E"/>
              </a:buClr>
              <a:buSzPts val="10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pic>
        <p:nvPicPr>
          <p:cNvPr id="196" name="Google Shape;196;g3278c195d04_0_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925" y="1287763"/>
            <a:ext cx="3118300" cy="325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278c195d04_0_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5325" y="1223500"/>
            <a:ext cx="3206877" cy="337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278c195d04_0_34"/>
          <p:cNvSpPr txBox="1"/>
          <p:nvPr/>
        </p:nvSpPr>
        <p:spPr>
          <a:xfrm>
            <a:off x="1215050" y="1137700"/>
            <a:ext cx="2532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Hyperlipidämie</a:t>
            </a:r>
            <a:endParaRPr b="1"/>
          </a:p>
        </p:txBody>
      </p:sp>
      <p:sp>
        <p:nvSpPr>
          <p:cNvPr id="199" name="Google Shape;199;g3278c195d04_0_34"/>
          <p:cNvSpPr txBox="1"/>
          <p:nvPr/>
        </p:nvSpPr>
        <p:spPr>
          <a:xfrm>
            <a:off x="5556825" y="1063500"/>
            <a:ext cx="2532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/>
              <a:t>Vorhofflimmern</a:t>
            </a:r>
            <a:endParaRPr b="1"/>
          </a:p>
        </p:txBody>
      </p:sp>
      <p:sp>
        <p:nvSpPr>
          <p:cNvPr id="200" name="Google Shape;200;g3278c195d04_0_34"/>
          <p:cNvSpPr/>
          <p:nvPr/>
        </p:nvSpPr>
        <p:spPr>
          <a:xfrm>
            <a:off x="7342675" y="2709250"/>
            <a:ext cx="650400" cy="407700"/>
          </a:xfrm>
          <a:prstGeom prst="ellipse">
            <a:avLst/>
          </a:prstGeom>
          <a:noFill/>
          <a:ln cap="flat" cmpd="sng" w="19050">
            <a:solidFill>
              <a:srgbClr val="FF54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278c195d04_0_34"/>
          <p:cNvSpPr/>
          <p:nvPr/>
        </p:nvSpPr>
        <p:spPr>
          <a:xfrm>
            <a:off x="3152200" y="2709250"/>
            <a:ext cx="650400" cy="407700"/>
          </a:xfrm>
          <a:prstGeom prst="ellipse">
            <a:avLst/>
          </a:prstGeom>
          <a:noFill/>
          <a:ln cap="flat" cmpd="sng" w="19050">
            <a:solidFill>
              <a:srgbClr val="FF54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" name="Google Shape;202;g3278c195d04_0_34"/>
          <p:cNvCxnSpPr/>
          <p:nvPr/>
        </p:nvCxnSpPr>
        <p:spPr>
          <a:xfrm flipH="1" rot="10800000">
            <a:off x="3921225" y="2903200"/>
            <a:ext cx="3168600" cy="9900"/>
          </a:xfrm>
          <a:prstGeom prst="straightConnector1">
            <a:avLst/>
          </a:prstGeom>
          <a:noFill/>
          <a:ln cap="flat" cmpd="sng" w="19050">
            <a:solidFill>
              <a:srgbClr val="FF5451"/>
            </a:solidFill>
            <a:prstDash val="solid"/>
            <a:round/>
            <a:headEnd len="med" w="med" type="stealth"/>
            <a:tailEnd len="med" w="med" type="triangle"/>
          </a:ln>
        </p:spPr>
      </p:cxnSp>
      <p:sp>
        <p:nvSpPr>
          <p:cNvPr id="203" name="Google Shape;203;g3278c195d04_0_34"/>
          <p:cNvSpPr txBox="1"/>
          <p:nvPr/>
        </p:nvSpPr>
        <p:spPr>
          <a:xfrm>
            <a:off x="5364225" y="2991225"/>
            <a:ext cx="14397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beide 80 Jahre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>
            <p:ph type="ctrTitle"/>
          </p:nvPr>
        </p:nvSpPr>
        <p:spPr>
          <a:xfrm>
            <a:off x="365125" y="1584325"/>
            <a:ext cx="7985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VIELEN DANK!</a:t>
            </a:r>
            <a:endParaRPr/>
          </a:p>
        </p:txBody>
      </p:sp>
      <p:sp>
        <p:nvSpPr>
          <p:cNvPr id="209" name="Google Shape;209;p16"/>
          <p:cNvSpPr txBox="1"/>
          <p:nvPr>
            <p:ph idx="1" type="body"/>
          </p:nvPr>
        </p:nvSpPr>
        <p:spPr>
          <a:xfrm>
            <a:off x="365125" y="2449513"/>
            <a:ext cx="6924675" cy="2457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de-DE" sz="1600"/>
              <a:t>Mona Perbix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de-DE" sz="1600">
                <a:latin typeface="Arial"/>
                <a:ea typeface="Arial"/>
                <a:cs typeface="Arial"/>
                <a:sym typeface="Arial"/>
              </a:rPr>
              <a:t>Institut für Medizinische Informatik, Statistik und Epidemiologie (IMISE)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018-09-13-Vorlage 16 zu 9 - MF">
  <a:themeElements>
    <a:clrScheme name="mf">
      <a:dk1>
        <a:srgbClr val="000000"/>
      </a:dk1>
      <a:lt1>
        <a:srgbClr val="FFFFFF"/>
      </a:lt1>
      <a:dk2>
        <a:srgbClr val="262A31"/>
      </a:dk2>
      <a:lt2>
        <a:srgbClr val="E7E6E6"/>
      </a:lt2>
      <a:accent1>
        <a:srgbClr val="008AC9"/>
      </a:accent1>
      <a:accent2>
        <a:srgbClr val="00A7D6"/>
      </a:accent2>
      <a:accent3>
        <a:srgbClr val="FF5451"/>
      </a:accent3>
      <a:accent4>
        <a:srgbClr val="8AC2D1"/>
      </a:accent4>
      <a:accent5>
        <a:srgbClr val="262A31"/>
      </a:accent5>
      <a:accent6>
        <a:srgbClr val="FFFFFF"/>
      </a:accent6>
      <a:hlink>
        <a:srgbClr val="8AC2D1"/>
      </a:hlink>
      <a:folHlink>
        <a:srgbClr val="B02F2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aster2_UniLeipzig_PPT Vorlage">
  <a:themeElements>
    <a:clrScheme name="MF 2018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008AC9"/>
      </a:accent1>
      <a:accent2>
        <a:srgbClr val="00A7D6"/>
      </a:accent2>
      <a:accent3>
        <a:srgbClr val="8AC2D1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8A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2018-09-28T08:09:47Z</dcterms:created>
  <dc:creator>Doris Gabel</dc:creator>
</cp:coreProperties>
</file>